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65960"/>
            <a:ext cx="109728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0" b="1">
                <a:solidFill>
                  <a:srgbClr val="FAFAFA"/>
                </a:solidFill>
                <a:latin typeface="Calibri"/>
              </a:defRPr>
            </a:pPr>
            <a:r>
              <a:t>FRIDAY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A1A1AA"/>
                </a:solidFill>
                <a:latin typeface="Calibri"/>
              </a:defRPr>
            </a:pPr>
            <a:r>
              <a:t>Stay in control when code — and threats — move faster than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F97316"/>
                </a:solidFill>
                <a:latin typeface="Calibri"/>
              </a:defRPr>
            </a:pPr>
            <a:r>
              <a:t>Voice-first control surface for the repo you already have open.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97316"/>
                </a:solidFill>
                <a:latin typeface="Calibri"/>
              </a:defRPr>
            </a:pPr>
            <a:r>
              <a:t>THE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AFAFA"/>
                </a:solidFill>
                <a:latin typeface="Calibri"/>
              </a:defRPr>
            </a:pPr>
            <a:r>
              <a:t>Generation outran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09728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FAFAFA"/>
                </a:solidFill>
                <a:latin typeface="Calibri"/>
              </a:defRPr>
            </a:pPr>
            <a:r>
              <a:t>Models write code at machine speed. Humans are still the approval layer — expected to read every diff, catch logic bugs, and sign off on security. That does not scale.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743200"/>
            <a:ext cx="3566160" cy="2194560"/>
          </a:xfrm>
          <a:prstGeom prst="round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28016"/>
          <a:lstStyle/>
          <a:p>
            <a:pPr algn="ctr">
              <a:defRPr sz="3200" b="1">
                <a:solidFill>
                  <a:srgbClr val="F97316"/>
                </a:solidFill>
                <a:latin typeface="Calibri"/>
              </a:defRPr>
            </a:pPr>
            <a:r>
              <a:t>↑ volume</a:t>
            </a:r>
          </a:p>
          <a:p>
            <a:pPr>
              <a:defRPr sz="1600" b="1">
                <a:solidFill>
                  <a:srgbClr val="FAFAFA"/>
                </a:solidFill>
                <a:latin typeface="Calibri"/>
              </a:defRPr>
            </a:pPr>
            <a:r>
              <a:t>Output</a:t>
            </a:r>
          </a:p>
          <a:p>
            <a:pPr>
              <a:defRPr sz="1300">
                <a:solidFill>
                  <a:srgbClr val="A1A1AA"/>
                </a:solidFill>
                <a:latin typeface="Calibri"/>
              </a:defRPr>
            </a:pPr>
            <a:r>
              <a:t>AI coding tools are now default in daily 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743200"/>
            <a:ext cx="3566160" cy="2194560"/>
          </a:xfrm>
          <a:prstGeom prst="round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28016"/>
          <a:lstStyle/>
          <a:p>
            <a:pPr algn="ctr">
              <a:defRPr sz="3200" b="1">
                <a:solidFill>
                  <a:srgbClr val="F97316"/>
                </a:solidFill>
                <a:latin typeface="Calibri"/>
              </a:defRPr>
            </a:pPr>
            <a:r>
              <a:t>flat</a:t>
            </a:r>
          </a:p>
          <a:p>
            <a:pPr>
              <a:defRPr sz="1600" b="1">
                <a:solidFill>
                  <a:srgbClr val="FAFAFA"/>
                </a:solidFill>
                <a:latin typeface="Calibri"/>
              </a:defRPr>
            </a:pPr>
            <a:r>
              <a:t>Review</a:t>
            </a:r>
          </a:p>
          <a:p>
            <a:pPr>
              <a:defRPr sz="1300">
                <a:solidFill>
                  <a:srgbClr val="A1A1AA"/>
                </a:solidFill>
                <a:latin typeface="Calibri"/>
              </a:defRPr>
            </a:pPr>
            <a:r>
              <a:t>Same humans, more diffs, same calendar.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743200"/>
            <a:ext cx="3566160" cy="2194560"/>
          </a:xfrm>
          <a:prstGeom prst="round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28016"/>
          <a:lstStyle/>
          <a:p>
            <a:pPr algn="ctr">
              <a:defRPr sz="3200" b="1">
                <a:solidFill>
                  <a:srgbClr val="F97316"/>
                </a:solidFill>
                <a:latin typeface="Calibri"/>
              </a:defRPr>
            </a:pPr>
            <a:r>
              <a:t>gap</a:t>
            </a:r>
          </a:p>
          <a:p>
            <a:pPr>
              <a:defRPr sz="1600" b="1">
                <a:solidFill>
                  <a:srgbClr val="FAFAFA"/>
                </a:solidFill>
                <a:latin typeface="Calibri"/>
              </a:defRPr>
            </a:pPr>
            <a:r>
              <a:t>Risk</a:t>
            </a:r>
          </a:p>
          <a:p>
            <a:pPr>
              <a:defRPr sz="1300">
                <a:solidFill>
                  <a:srgbClr val="A1A1AA"/>
                </a:solidFill>
                <a:latin typeface="Calibri"/>
              </a:defRPr>
            </a:pPr>
            <a:r>
              <a:t>Weak code ships before anyone holds the shape.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1155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1A1AA"/>
                </a:solidFill>
                <a:latin typeface="Calibri"/>
              </a:defRPr>
            </a:pPr>
            <a:r>
              <a:t>Thesis: orientation and consent have to move as fast as generation.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97316"/>
                </a:solidFill>
                <a:latin typeface="Calibri"/>
              </a:defRPr>
            </a:pPr>
            <a:r>
              <a:t>WHAT THE RESEARCH SAYS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AFAFA"/>
                </a:solidFill>
                <a:latin typeface="Calibri"/>
              </a:defRPr>
            </a:pPr>
            <a:r>
              <a:t>Adoption is done. Control is not.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657600" cy="4206240"/>
          </a:xfrm>
          <a:prstGeom prst="round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28016"/>
          <a:lstStyle/>
          <a:p>
            <a:pPr algn="ctr">
              <a:defRPr sz="3200" b="1">
                <a:solidFill>
                  <a:srgbClr val="F97316"/>
                </a:solidFill>
                <a:latin typeface="Calibri"/>
              </a:defRPr>
            </a:pPr>
            <a:r>
              <a:t>97%+</a:t>
            </a:r>
          </a:p>
          <a:p>
            <a:pPr>
              <a:defRPr sz="1600" b="1">
                <a:solidFill>
                  <a:srgbClr val="FAFAFA"/>
                </a:solidFill>
                <a:latin typeface="Calibri"/>
              </a:defRPr>
            </a:pPr>
            <a:r>
              <a:t>Used AI coding tools at work</a:t>
            </a:r>
          </a:p>
          <a:p>
            <a:pPr>
              <a:defRPr sz="1300">
                <a:solidFill>
                  <a:srgbClr val="A1A1AA"/>
                </a:solidFill>
                <a:latin typeface="Calibri"/>
              </a:defRPr>
            </a:pPr>
            <a:r>
              <a:t>GitHub survey of 2,000 developers across four countries, 2024. Nearly everyone has tried the tools. Policy and review practice lag the habit.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554480"/>
            <a:ext cx="3657600" cy="4206240"/>
          </a:xfrm>
          <a:prstGeom prst="round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28016"/>
          <a:lstStyle/>
          <a:p>
            <a:pPr algn="ctr">
              <a:defRPr sz="3200" b="1">
                <a:solidFill>
                  <a:srgbClr val="F97316"/>
                </a:solidFill>
                <a:latin typeface="Calibri"/>
              </a:defRPr>
            </a:pPr>
            <a:r>
              <a:t>−7.2%</a:t>
            </a:r>
          </a:p>
          <a:p>
            <a:pPr>
              <a:defRPr sz="1600" b="1">
                <a:solidFill>
                  <a:srgbClr val="FAFAFA"/>
                </a:solidFill>
                <a:latin typeface="Calibri"/>
              </a:defRPr>
            </a:pPr>
            <a:r>
              <a:t>Stability drop per +25% AI adoption</a:t>
            </a:r>
          </a:p>
          <a:p>
            <a:pPr>
              <a:defRPr sz="1300">
                <a:solidFill>
                  <a:srgbClr val="A1A1AA"/>
                </a:solidFill>
                <a:latin typeface="Calibri"/>
              </a:defRPr>
            </a:pPr>
            <a:r>
              <a:t>Google DORA 2024: individual flow goes up. Delivery stability is estimated down 7.2%. Throughput slightly down too. Faster typing is not a healthier pipeline.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554480"/>
            <a:ext cx="3566160" cy="4206240"/>
          </a:xfrm>
          <a:prstGeom prst="round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28016"/>
          <a:lstStyle/>
          <a:p>
            <a:pPr algn="ctr">
              <a:defRPr sz="3200" b="1">
                <a:solidFill>
                  <a:srgbClr val="F97316"/>
                </a:solidFill>
                <a:latin typeface="Calibri"/>
              </a:defRPr>
            </a:pPr>
            <a:r>
              <a:t>45%</a:t>
            </a:r>
          </a:p>
          <a:p>
            <a:pPr>
              <a:defRPr sz="1600" b="1">
                <a:solidFill>
                  <a:srgbClr val="FAFAFA"/>
                </a:solidFill>
                <a:latin typeface="Calibri"/>
              </a:defRPr>
            </a:pPr>
            <a:r>
              <a:t>AI code tasks with an OWASP flaw</a:t>
            </a:r>
          </a:p>
          <a:p>
            <a:pPr>
              <a:defRPr sz="1300">
                <a:solidFill>
                  <a:srgbClr val="A1A1AA"/>
                </a:solidFill>
                <a:latin typeface="Calibri"/>
              </a:defRPr>
            </a:pPr>
            <a:r>
              <a:t>Veracode 2025: 100+ models, 80 tasks. Syntax improved. Security pass rate stayed ~55%. Newer models did not get meaningfully safer.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55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1A1AA"/>
                </a:solidFill>
                <a:latin typeface="Calibri"/>
              </a:defRPr>
            </a:pPr>
            <a:r>
              <a:t>Sources: GitHub AI in software development survey (2024) · DORA Accelerate State of DevOps 2024 · Veracode GenAI Code Security Report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97316"/>
                </a:solidFill>
                <a:latin typeface="Calibri"/>
              </a:defRPr>
            </a:pPr>
            <a:r>
              <a:t>THE ASYMMETRY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AFAFA"/>
                </a:solidFill>
                <a:latin typeface="Calibri"/>
              </a:defRPr>
            </a:pPr>
            <a:r>
              <a:t>Offense automated. Understanding did not.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5486400" cy="4297680"/>
          </a:xfrm>
          <a:prstGeom prst="round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28016"/>
          <a:lstStyle/>
          <a:p>
            <a:pPr algn="ctr">
              <a:defRPr sz="1600" b="1">
                <a:solidFill>
                  <a:srgbClr val="FAFAFA"/>
                </a:solidFill>
                <a:latin typeface="Calibri"/>
              </a:defRPr>
            </a:pPr>
            <a:r>
              <a:t>What got faster</a:t>
            </a:r>
          </a:p>
          <a:p>
            <a:pPr>
              <a:defRPr sz="1300">
                <a:solidFill>
                  <a:srgbClr val="A1A1AA"/>
                </a:solidFill>
                <a:latin typeface="Calibri"/>
              </a:defRPr>
            </a:pPr>
            <a:r>
              <a:t>Writing functions. Finding secrets, XSS, injection, and unsafe patterns. Opening issues and comments from an agent with no second look.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486400" cy="4297680"/>
          </a:xfrm>
          <a:prstGeom prst="round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28016"/>
          <a:lstStyle/>
          <a:p>
            <a:pPr algn="ctr">
              <a:defRPr sz="1600" b="1">
                <a:solidFill>
                  <a:srgbClr val="FAFAFA"/>
                </a:solidFill>
                <a:latin typeface="Calibri"/>
              </a:defRPr>
            </a:pPr>
            <a:r>
              <a:t>What stayed human-speed</a:t>
            </a:r>
          </a:p>
          <a:p>
            <a:pPr>
              <a:defRPr sz="1300">
                <a:solidFill>
                  <a:srgbClr val="A1A1AA"/>
                </a:solidFill>
                <a:latin typeface="Calibri"/>
              </a:defRPr>
            </a:pPr>
            <a:r>
              <a:t>Holding architecture in your head. Reading the last commit against the map. Deciding what is safe to merge. Saying yes only when you mean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1A1AA"/>
                </a:solidFill>
                <a:latin typeface="Calibri"/>
              </a:defRPr>
            </a:pPr>
            <a:r>
              <a:t>If we ship opaque volume, we lose grip on what actually runs.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97316"/>
                </a:solidFill>
                <a:latin typeface="Calibri"/>
              </a:defRPr>
            </a:pPr>
            <a: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AFAFA"/>
                </a:solidFill>
                <a:latin typeface="Calibri"/>
              </a:defRPr>
            </a:pPr>
            <a:r>
              <a:t>Friday is a control surface, not another chat box.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09728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A1A1AA"/>
                </a:solidFill>
                <a:latin typeface="Calibri"/>
              </a:defRPr>
            </a:pPr>
            <a:r>
              <a:t>A live map of the repo you already opened. Voice or type. Answers from ingested structure and real GitHub data. Writes wait for a later yes.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68880"/>
            <a:ext cx="3611880" cy="3108960"/>
          </a:xfrm>
          <a:prstGeom prst="round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28016"/>
          <a:lstStyle/>
          <a:p>
            <a:pPr algn="ctr">
              <a:defRPr sz="1600" b="1">
                <a:solidFill>
                  <a:srgbClr val="FAFAFA"/>
                </a:solidFill>
                <a:latin typeface="Calibri"/>
              </a:defRPr>
            </a:pPr>
            <a:r>
              <a:t>See</a:t>
            </a:r>
          </a:p>
          <a:p>
            <a:pPr>
              <a:defRPr sz="1300">
                <a:solidFill>
                  <a:srgbClr val="A1A1AA"/>
                </a:solidFill>
                <a:latin typeface="Calibri"/>
              </a:defRPr>
            </a:pPr>
            <a:r>
              <a:t>Circle pack: entry, core, hotspots, heat, imports.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468880"/>
            <a:ext cx="3611880" cy="3108960"/>
          </a:xfrm>
          <a:prstGeom prst="round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28016"/>
          <a:lstStyle/>
          <a:p>
            <a:pPr algn="ctr">
              <a:defRPr sz="1600" b="1">
                <a:solidFill>
                  <a:srgbClr val="FAFAFA"/>
                </a:solidFill>
                <a:latin typeface="Calibri"/>
              </a:defRPr>
            </a:pPr>
            <a:r>
              <a:t>Ask</a:t>
            </a:r>
          </a:p>
          <a:p>
            <a:pPr>
              <a:defRPr sz="1300">
                <a:solidFill>
                  <a:srgbClr val="A1A1AA"/>
                </a:solidFill>
                <a:latin typeface="Calibri"/>
              </a:defRPr>
            </a:pPr>
            <a:r>
              <a:t>Landmarks, diffs, issues, PRs, security, merge risk.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2468880"/>
            <a:ext cx="3611880" cy="3108960"/>
          </a:xfrm>
          <a:prstGeom prst="round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28016"/>
          <a:lstStyle/>
          <a:p>
            <a:pPr algn="ctr">
              <a:defRPr sz="1600" b="1">
                <a:solidFill>
                  <a:srgbClr val="FAFAFA"/>
                </a:solidFill>
                <a:latin typeface="Calibri"/>
              </a:defRPr>
            </a:pPr>
            <a:r>
              <a:t>Act</a:t>
            </a:r>
          </a:p>
          <a:p>
            <a:pPr>
              <a:defRPr sz="1300">
                <a:solidFill>
                  <a:srgbClr val="A1A1AA"/>
                </a:solidFill>
                <a:latin typeface="Calibri"/>
              </a:defRPr>
            </a:pPr>
            <a:r>
              <a:t>Stage an issue or comment. Post only after yes.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97316"/>
                </a:solidFill>
                <a:latin typeface="Calibri"/>
              </a:defRPr>
            </a:pPr>
            <a:r>
              <a:t>THE JOB TO BE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AFAFA"/>
                </a:solidFill>
                <a:latin typeface="Calibri"/>
              </a:defRPr>
            </a:pPr>
            <a:r>
              <a:t>From tab sprawl to one spoken loop.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486400" cy="4389120"/>
          </a:xfrm>
          <a:prstGeom prst="round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28016"/>
          <a:lstStyle/>
          <a:p>
            <a:pPr algn="ctr">
              <a:defRPr sz="1600" b="1">
                <a:solidFill>
                  <a:srgbClr val="FAFAFA"/>
                </a:solidFill>
                <a:latin typeface="Calibri"/>
              </a:defRPr>
            </a:pPr>
            <a:r>
              <a:t>Today</a:t>
            </a:r>
          </a:p>
          <a:p>
            <a:pPr>
              <a:defRPr sz="1300">
                <a:solidFill>
                  <a:srgbClr val="A1A1AA"/>
                </a:solidFill>
                <a:latin typeface="Calibri"/>
              </a:defRPr>
            </a:pPr>
            <a:r>
              <a:t>Files in the editor. History in another tab. Issues somewhere else. A chatbot that invents paths. An agent that posts before you look.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486400" cy="4389120"/>
          </a:xfrm>
          <a:prstGeom prst="round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28016"/>
          <a:lstStyle/>
          <a:p>
            <a:pPr algn="ctr">
              <a:defRPr sz="1600" b="1">
                <a:solidFill>
                  <a:srgbClr val="FAFAFA"/>
                </a:solidFill>
                <a:latin typeface="Calibri"/>
              </a:defRPr>
            </a:pPr>
            <a:r>
              <a:t>With Friday</a:t>
            </a:r>
          </a:p>
          <a:p>
            <a:pPr>
              <a:defRPr sz="1300">
                <a:solidFill>
                  <a:srgbClr val="A1A1AA"/>
                </a:solidFill>
                <a:latin typeface="Calibri"/>
              </a:defRPr>
            </a:pPr>
            <a:r>
              <a:t>Map on screen. “What changed?” “Is this safe?” “Open an issue titled …” Draft appears. You say yes on the next turn. Link comes 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97316"/>
                </a:solidFill>
                <a:latin typeface="Calibri"/>
              </a:defRPr>
            </a:pPr>
            <a:r>
              <a:t>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AFAFA"/>
                </a:solidFill>
                <a:latin typeface="Calibri"/>
              </a:defRPr>
            </a:pPr>
            <a:r>
              <a:t>One turn. Ground truth. Then consent.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965960"/>
            <a:ext cx="2148840" cy="2103120"/>
          </a:xfrm>
          <a:prstGeom prst="round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28016"/>
          <a:lstStyle/>
          <a:p>
            <a:pPr algn="ctr">
              <a:defRPr sz="1600" b="1">
                <a:solidFill>
                  <a:srgbClr val="FAFAFA"/>
                </a:solidFill>
                <a:latin typeface="Calibri"/>
              </a:defRPr>
            </a:pPr>
            <a:r>
              <a:t>1  You</a:t>
            </a:r>
          </a:p>
          <a:p>
            <a:pPr>
              <a:defRPr sz="1300">
                <a:solidFill>
                  <a:srgbClr val="A1A1AA"/>
                </a:solidFill>
                <a:latin typeface="Calibri"/>
              </a:defRPr>
            </a:pPr>
            <a:r>
              <a:t>Hold mic or Ask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50591" y="2834640"/>
            <a:ext cx="201168" cy="256032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97479" y="1965960"/>
            <a:ext cx="2148840" cy="2103120"/>
          </a:xfrm>
          <a:prstGeom prst="round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28016"/>
          <a:lstStyle/>
          <a:p>
            <a:pPr algn="ctr">
              <a:defRPr sz="1600" b="1">
                <a:solidFill>
                  <a:srgbClr val="FAFAFA"/>
                </a:solidFill>
                <a:latin typeface="Calibri"/>
              </a:defRPr>
            </a:pPr>
            <a:r>
              <a:t>2  Route</a:t>
            </a:r>
          </a:p>
          <a:p>
            <a:pPr>
              <a:defRPr sz="1300">
                <a:solidFill>
                  <a:srgbClr val="A1A1AA"/>
                </a:solidFill>
                <a:latin typeface="Calibri"/>
              </a:defRPr>
            </a:pPr>
            <a:r>
              <a:t>Parser, Jev, or Gateway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82312" y="2834640"/>
            <a:ext cx="201168" cy="256032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0" y="1965960"/>
            <a:ext cx="2148840" cy="2103120"/>
          </a:xfrm>
          <a:prstGeom prst="round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28016"/>
          <a:lstStyle/>
          <a:p>
            <a:pPr algn="ctr">
              <a:defRPr sz="1600" b="1">
                <a:solidFill>
                  <a:srgbClr val="FAFAFA"/>
                </a:solidFill>
                <a:latin typeface="Calibri"/>
              </a:defRPr>
            </a:pPr>
            <a:r>
              <a:t>3  Truth</a:t>
            </a:r>
          </a:p>
          <a:p>
            <a:pPr>
              <a:defRPr sz="1300">
                <a:solidFill>
                  <a:srgbClr val="A1A1AA"/>
                </a:solidFill>
                <a:latin typeface="Calibri"/>
              </a:defRPr>
            </a:pPr>
            <a:r>
              <a:t>Map + GitHub APIs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14031" y="2834640"/>
            <a:ext cx="201168" cy="256032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60919" y="1965960"/>
            <a:ext cx="2148840" cy="2103120"/>
          </a:xfrm>
          <a:prstGeom prst="round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28016"/>
          <a:lstStyle/>
          <a:p>
            <a:pPr algn="ctr">
              <a:defRPr sz="1600" b="1">
                <a:solidFill>
                  <a:srgbClr val="FAFAFA"/>
                </a:solidFill>
                <a:latin typeface="Calibri"/>
              </a:defRPr>
            </a:pPr>
            <a:r>
              <a:t>4  Say</a:t>
            </a:r>
          </a:p>
          <a:p>
            <a:pPr>
              <a:defRPr sz="1300">
                <a:solidFill>
                  <a:srgbClr val="A1A1AA"/>
                </a:solidFill>
                <a:latin typeface="Calibri"/>
              </a:defRPr>
            </a:pPr>
            <a:r>
              <a:t>Spoken + on-screen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445751" y="2834640"/>
            <a:ext cx="201168" cy="256032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92640" y="1965960"/>
            <a:ext cx="2148840" cy="2103120"/>
          </a:xfrm>
          <a:prstGeom prst="round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28016"/>
          <a:lstStyle/>
          <a:p>
            <a:pPr algn="ctr">
              <a:defRPr sz="1600" b="1">
                <a:solidFill>
                  <a:srgbClr val="FAFAFA"/>
                </a:solidFill>
                <a:latin typeface="Calibri"/>
              </a:defRPr>
            </a:pPr>
            <a:r>
              <a:t>5  Yes</a:t>
            </a:r>
          </a:p>
          <a:p>
            <a:pPr>
              <a:defRPr sz="1300">
                <a:solidFill>
                  <a:srgbClr val="A1A1AA"/>
                </a:solidFill>
                <a:latin typeface="Calibri"/>
              </a:defRPr>
            </a:pPr>
            <a:r>
              <a:t>Only then we 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389120"/>
            <a:ext cx="109728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A1A1AA"/>
                </a:solidFill>
                <a:latin typeface="Calibri"/>
              </a:defRPr>
            </a:pPr>
            <a:r>
              <a:t>Direct phrases (yes / no / “comment on issue 2”) never wait on a model. Multi-step triage can use an 8-turn tool loop. Map questions stay on the orchestrator.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97316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AFAFA"/>
                </a:solidFill>
                <a:latin typeface="Calibri"/>
              </a:defRPr>
            </a:pPr>
            <a:r>
              <a:t>Browser talks. Server decides. GitHub waits.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651760" cy="3291840"/>
          </a:xfrm>
          <a:prstGeom prst="round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28016"/>
          <a:lstStyle/>
          <a:p>
            <a:pPr algn="ctr">
              <a:defRPr sz="1600" b="1">
                <a:solidFill>
                  <a:srgbClr val="FAFAFA"/>
                </a:solidFill>
                <a:latin typeface="Calibri"/>
              </a:defRPr>
            </a:pPr>
            <a:r>
              <a:t>Browser</a:t>
            </a:r>
          </a:p>
          <a:p>
            <a:pPr>
              <a:defRPr sz="1300">
                <a:solidFill>
                  <a:srgbClr val="A1A1AA"/>
                </a:solidFill>
                <a:latin typeface="Calibri"/>
              </a:defRPr>
            </a:pPr>
            <a:r>
              <a:t>D3 map · hold-to-talk · Ask · markdown links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645920"/>
            <a:ext cx="2651760" cy="3291840"/>
          </a:xfrm>
          <a:prstGeom prst="round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28016"/>
          <a:lstStyle/>
          <a:p>
            <a:pPr algn="ctr">
              <a:defRPr sz="1600" b="1">
                <a:solidFill>
                  <a:srgbClr val="FAFAFA"/>
                </a:solidFill>
                <a:latin typeface="Calibri"/>
              </a:defRPr>
            </a:pPr>
            <a:r>
              <a:t>Voice</a:t>
            </a:r>
          </a:p>
          <a:p>
            <a:pPr>
              <a:defRPr sz="1300">
                <a:solidFill>
                  <a:srgbClr val="A1A1AA"/>
                </a:solidFill>
                <a:latin typeface="Calibri"/>
              </a:defRPr>
            </a:pPr>
            <a:r>
              <a:t>AssemblyAI Voice Agent · friday_turn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645920"/>
            <a:ext cx="2651760" cy="3291840"/>
          </a:xfrm>
          <a:prstGeom prst="round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28016"/>
          <a:lstStyle/>
          <a:p>
            <a:pPr algn="ctr">
              <a:defRPr sz="1600" b="1">
                <a:solidFill>
                  <a:srgbClr val="FAFAFA"/>
                </a:solidFill>
                <a:latin typeface="Calibri"/>
              </a:defRPr>
            </a:pPr>
            <a:r>
              <a:t>Friday</a:t>
            </a:r>
          </a:p>
          <a:p>
            <a:pPr>
              <a:defRPr sz="1300">
                <a:solidFill>
                  <a:srgbClr val="A1A1AA"/>
                </a:solidFill>
                <a:latin typeface="Calibri"/>
              </a:defRPr>
            </a:pPr>
            <a:r>
              <a:t>chat.turn · orchestrator · review gate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645920"/>
            <a:ext cx="2651760" cy="3291840"/>
          </a:xfrm>
          <a:prstGeom prst="round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28016"/>
          <a:lstStyle/>
          <a:p>
            <a:pPr algn="ctr">
              <a:defRPr sz="1600" b="1">
                <a:solidFill>
                  <a:srgbClr val="FAFAFA"/>
                </a:solidFill>
                <a:latin typeface="Calibri"/>
              </a:defRPr>
            </a:pPr>
            <a:r>
              <a:t>Outside</a:t>
            </a:r>
          </a:p>
          <a:p>
            <a:pPr>
              <a:defRPr sz="1300">
                <a:solidFill>
                  <a:srgbClr val="A1A1AA"/>
                </a:solidFill>
                <a:latin typeface="Calibri"/>
              </a:defRPr>
            </a:pPr>
            <a:r>
              <a:t>GitHub · LLM Gateway · optional Jev / K2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3035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AFAFA"/>
                </a:solidFill>
                <a:latin typeface="Calibri"/>
              </a:defRPr>
            </a:pPr>
            <a:r>
              <a:t>Live: https://friday-voice-agent-147606977567.us-central1.run.app   ·   Cloud Run, HTTPS, OAuth callback on the service URL.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97316"/>
                </a:solidFill>
                <a:latin typeface="Calibri"/>
              </a:defRPr>
            </a:pPr>
            <a:r>
              <a:t>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AFAFA"/>
                </a:solidFill>
                <a:latin typeface="Calibri"/>
              </a:defRPr>
            </a:pPr>
            <a:r>
              <a:t>Draft is not a write.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3566160" cy="4023360"/>
          </a:xfrm>
          <a:prstGeom prst="round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28016"/>
          <a:lstStyle/>
          <a:p>
            <a:pPr algn="ctr">
              <a:defRPr sz="1600" b="1">
                <a:solidFill>
                  <a:srgbClr val="FAFAFA"/>
                </a:solidFill>
                <a:latin typeface="Calibri"/>
              </a:defRPr>
            </a:pPr>
            <a:r>
              <a:t>Stage</a:t>
            </a:r>
          </a:p>
          <a:p>
            <a:pPr>
              <a:defRPr sz="1300">
                <a:solidFill>
                  <a:srgbClr val="A1A1AA"/>
                </a:solidFill>
                <a:latin typeface="Calibri"/>
              </a:defRPr>
            </a:pPr>
            <a:r>
              <a:t>create_issue and add_comment only prepare a draft. Same sentence cannot also say yes.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566160" cy="4023360"/>
          </a:xfrm>
          <a:prstGeom prst="round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28016"/>
          <a:lstStyle/>
          <a:p>
            <a:pPr algn="ctr">
              <a:defRPr sz="1600" b="1">
                <a:solidFill>
                  <a:srgbClr val="FAFAFA"/>
                </a:solidFill>
                <a:latin typeface="Calibri"/>
              </a:defRPr>
            </a:pPr>
            <a:r>
              <a:t>Confirm</a:t>
            </a:r>
          </a:p>
          <a:p>
            <a:pPr>
              <a:defRPr sz="1300">
                <a:solidFill>
                  <a:srgbClr val="A1A1AA"/>
                </a:solidFill>
                <a:latin typeface="Calibri"/>
              </a:defRPr>
            </a:pPr>
            <a:r>
              <a:t>A later turn of yes calls confirm_write. No cancels. Tokens never ship to the browser.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645920"/>
            <a:ext cx="3566160" cy="4023360"/>
          </a:xfrm>
          <a:prstGeom prst="round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28016"/>
          <a:lstStyle/>
          <a:p>
            <a:pPr algn="ctr">
              <a:defRPr sz="1600" b="1">
                <a:solidFill>
                  <a:srgbClr val="FAFAFA"/>
                </a:solidFill>
                <a:latin typeface="Calibri"/>
              </a:defRPr>
            </a:pPr>
            <a:r>
              <a:t>Refuse</a:t>
            </a:r>
          </a:p>
          <a:p>
            <a:pPr>
              <a:defRPr sz="1300">
                <a:solidFill>
                  <a:srgbClr val="A1A1AA"/>
                </a:solidFill>
                <a:latin typeface="Calibri"/>
              </a:defRPr>
            </a:pPr>
            <a:r>
              <a:t>Friday will not close or delete issues or pull requests. Give up honestly when the repo has no answer.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97316"/>
                </a:solidFill>
                <a:latin typeface="Calibri"/>
              </a:defRPr>
            </a:pPr>
            <a:r>
              <a:t>DEMO SCRIPT · 90 SECONDS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AFAFA"/>
                </a:solidFill>
                <a:latin typeface="Calibri"/>
              </a:defRPr>
            </a:pPr>
            <a:r>
              <a:t>Show the map. Then the consent.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FAFAFA"/>
                </a:solidFill>
                <a:latin typeface="Calibri"/>
              </a:defRPr>
            </a:pPr>
            <a:r>
              <a:t>1   Open the live URL with ?repo=owner/name. Point at hotspots.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FAFAFA"/>
                </a:solidFill>
                <a:latin typeface="Calibri"/>
              </a:defRPr>
            </a:pPr>
            <a:r>
              <a:t>2   “Explain the landmarks.” Then “What changed in the latest commit?”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FAFAFA"/>
                </a:solidFill>
                <a:latin typeface="Calibri"/>
              </a:defRPr>
            </a:pPr>
            <a:r>
              <a:t>3   “Scan this repository for security issues.”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8620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FAFAFA"/>
                </a:solidFill>
                <a:latin typeface="Calibri"/>
              </a:defRPr>
            </a:pPr>
            <a:r>
              <a:t>4   “Open an issue titled Friday demo.” Show the draft. Do not post yet.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FAFAFA"/>
                </a:solidFill>
                <a:latin typeface="Calibri"/>
              </a:defRPr>
            </a:pPr>
            <a:r>
              <a:t>5   Next turn: “yes.” Show the GitHub link.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97316"/>
                </a:solidFill>
                <a:latin typeface="Calibri"/>
              </a:defRPr>
            </a:pPr>
            <a: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AFAFA"/>
                </a:solidFill>
                <a:latin typeface="Calibri"/>
              </a:defRPr>
            </a:pPr>
            <a:r>
              <a:t>The approval window is narrowing.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09728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FAFAFA"/>
                </a:solidFill>
                <a:latin typeface="Calibri"/>
              </a:defRPr>
            </a:pPr>
            <a:r>
              <a:t>We can keep generating faster than we understand. Or we can put a map, a voice, and a hard yes in front of every action that leaves the building.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97316"/>
                </a:solidFill>
                <a:latin typeface="Calibri"/>
              </a:defRPr>
            </a:pPr>
            <a:r>
              <a:t>Friday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148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FAFAFA"/>
                </a:solidFill>
                <a:latin typeface="Calibri"/>
              </a:defRPr>
            </a:pPr>
            <a:r>
              <a:t>github.com/hatif03/friday-voice-agent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6344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A1A1AA"/>
                </a:solidFill>
                <a:latin typeface="Calibri"/>
              </a:defRPr>
            </a:pPr>
            <a:r>
              <a:t>friday-voice-agent-147606977567.us-central1.run.app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